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60" r:id="rId5"/>
    <p:sldId id="267" r:id="rId6"/>
    <p:sldId id="261" r:id="rId7"/>
    <p:sldId id="266" r:id="rId8"/>
    <p:sldId id="262" r:id="rId9"/>
    <p:sldId id="259" r:id="rId10"/>
    <p:sldId id="263" r:id="rId11"/>
    <p:sldId id="264"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1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GB"/>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4AAD347D-5ACD-4C99-B74B-A9C85AD731AF}" type="datetimeFigureOut">
              <a:rPr lang="en-US" dirty="0"/>
              <a:t>11/28/2024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11/28/2024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11/28/2024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4509A250-FF31-4206-8172-F9D3106AACB1}" type="datetimeFigureOut">
              <a:rPr lang="en-US" dirty="0"/>
              <a:t>11/28/2024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4509A250-FF31-4206-8172-F9D3106AACB1}" type="datetimeFigureOut">
              <a:rPr lang="en-US" dirty="0"/>
              <a:t>11/28/2024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7" name="Date Placeholder 2"/>
          <p:cNvSpPr>
            <a:spLocks noGrp="1"/>
          </p:cNvSpPr>
          <p:nvPr>
            <p:ph type="dt" sz="half" idx="10"/>
          </p:nvPr>
        </p:nvSpPr>
        <p:spPr/>
        <p:txBody>
          <a:bodyPr/>
          <a:lstStyle/>
          <a:p>
            <a:fld id="{4509A250-FF31-4206-8172-F9D3106AACB1}" type="datetimeFigureOut">
              <a:rPr lang="en-US" dirty="0"/>
              <a:t>11/28/2024</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4509A250-FF31-4206-8172-F9D3106AACB1}" type="datetimeFigureOut">
              <a:rPr lang="en-US" dirty="0"/>
              <a:t>11/28/2024</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3401064" cy="1447800"/>
          </a:xfrm>
        </p:spPr>
        <p:txBody>
          <a:bodyPr anchor="b"/>
          <a:lstStyle>
            <a:lvl1pPr algn="l">
              <a:defRPr sz="2400" b="0"/>
            </a:lvl1pPr>
          </a:lstStyle>
          <a:p>
            <a:r>
              <a:rPr lang="en-GB"/>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1154954"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7" name="Date Placeholder 4"/>
          <p:cNvSpPr>
            <a:spLocks noGrp="1"/>
          </p:cNvSpPr>
          <p:nvPr>
            <p:ph type="dt" sz="half" idx="10"/>
          </p:nvPr>
        </p:nvSpPr>
        <p:spPr/>
        <p:txBody>
          <a:bodyPr/>
          <a:lstStyle/>
          <a:p>
            <a:fld id="{4509A250-FF31-4206-8172-F9D3106AACB1}" type="datetimeFigureOut">
              <a:rPr lang="en-US" dirty="0"/>
              <a:t>11/28/2024</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11/28/2024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4509A250-FF31-4206-8172-F9D3106AACB1}" type="datetimeFigureOut">
              <a:rPr lang="en-US" dirty="0"/>
              <a:t>11/28/2024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GB"/>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11/28/2024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GB"/>
              <a:t>Click to edit Master title style</a:t>
            </a:r>
            <a:endParaRPr lang="en-US" dirty="0"/>
          </a:p>
        </p:txBody>
      </p:sp>
      <p:sp>
        <p:nvSpPr>
          <p:cNvPr id="14" name="Text Placeholder 3"/>
          <p:cNvSpPr>
            <a:spLocks noGrp="1"/>
          </p:cNvSpPr>
          <p:nvPr>
            <p:ph type="body" sz="half" idx="13"/>
          </p:nvPr>
        </p:nvSpPr>
        <p:spPr>
          <a:xfrm>
            <a:off x="1930400" y="3771174"/>
            <a:ext cx="7279649" cy="342174"/>
          </a:xfrm>
        </p:spPr>
        <p:txBody>
          <a:bodyPr anchor="t">
            <a:normAutofit/>
          </a:bodyPr>
          <a:lstStyle>
            <a:lvl1pPr marL="0" indent="0">
              <a:buNone/>
              <a:defRPr lang="en-US" sz="1400" b="0" i="0" kern="1200" cap="small" dirty="0">
                <a:solidFill>
                  <a:schemeClr val="accent1"/>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11/28/2024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
        <p:nvSpPr>
          <p:cNvPr id="9" name="TextBox 8"/>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
        <p:nvSpPr>
          <p:cNvPr id="13" name="TextBox 12"/>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accent1"/>
                </a:solidFill>
                <a:latin typeface="Arial"/>
                <a:ea typeface="+mj-ea"/>
                <a:cs typeface="+mj-cs"/>
              </a:defRPr>
            </a:lvl1pPr>
          </a:lstStyle>
          <a:p>
            <a:pPr lvl="0"/>
            <a:r>
              <a:rPr lang="en-US" dirty="0"/>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GB"/>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4509A250-FF31-4206-8172-F9D3106AACB1}" type="datetimeFigureOut">
              <a:rPr lang="en-US" dirty="0"/>
              <a:t>11/28/2024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GB"/>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11/28/2024</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GB"/>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4509A250-FF31-4206-8172-F9D3106AACB1}" type="datetimeFigureOut">
              <a:rPr lang="en-US" dirty="0"/>
              <a:t>11/28/2024</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11/28/2024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GB"/>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4509A250-FF31-4206-8172-F9D3106AACB1}" type="datetimeFigureOut">
              <a:rPr lang="en-US" dirty="0"/>
              <a:t>11/28/2024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02111984F56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40000"/>
                  <a:lumOff val="60000"/>
                  <a:alpha val="7000"/>
                </a:schemeClr>
              </a:gs>
              <a:gs pos="69000">
                <a:schemeClr val="bg2">
                  <a:lumMod val="40000"/>
                  <a:lumOff val="60000"/>
                  <a:alpha val="0"/>
                </a:schemeClr>
              </a:gs>
              <a:gs pos="36000">
                <a:schemeClr val="bg2">
                  <a:lumMod val="40000"/>
                  <a:lumOff val="6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9012"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GB"/>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4509A250-FF31-4206-8172-F9D3106AACB1}" type="datetimeFigureOut">
              <a:rPr lang="en-US" dirty="0"/>
              <a:t>11/28/2024</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02111984F565}" type="slidenum">
              <a:rPr lang="en-US" dirty="0"/>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64"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00C4E-0BC1-4478-EB87-9A2E39CFFBFC}"/>
              </a:ext>
            </a:extLst>
          </p:cNvPr>
          <p:cNvSpPr>
            <a:spLocks noGrp="1"/>
          </p:cNvSpPr>
          <p:nvPr>
            <p:ph type="ctrTitle"/>
          </p:nvPr>
        </p:nvSpPr>
        <p:spPr>
          <a:xfrm>
            <a:off x="1154955" y="594852"/>
            <a:ext cx="8825658" cy="3329581"/>
          </a:xfrm>
        </p:spPr>
        <p:txBody>
          <a:bodyPr/>
          <a:lstStyle/>
          <a:p>
            <a:r>
              <a:rPr lang="pl-PL" dirty="0"/>
              <a:t>Data </a:t>
            </a:r>
            <a:r>
              <a:rPr lang="pl-PL" dirty="0" err="1"/>
              <a:t>Analyst</a:t>
            </a:r>
            <a:r>
              <a:rPr lang="pl-PL" dirty="0"/>
              <a:t> </a:t>
            </a:r>
            <a:r>
              <a:rPr lang="pl-PL" dirty="0" err="1"/>
              <a:t>Certification</a:t>
            </a:r>
            <a:r>
              <a:rPr lang="pl-PL" dirty="0"/>
              <a:t> Presentation</a:t>
            </a:r>
            <a:endParaRPr lang="en-GB" dirty="0"/>
          </a:p>
        </p:txBody>
      </p:sp>
      <p:sp>
        <p:nvSpPr>
          <p:cNvPr id="3" name="Subtitle 2">
            <a:extLst>
              <a:ext uri="{FF2B5EF4-FFF2-40B4-BE49-F238E27FC236}">
                <a16:creationId xmlns:a16="http://schemas.microsoft.com/office/drawing/2014/main" id="{218D727A-680B-F4DB-AA9F-FF26876F8F18}"/>
              </a:ext>
            </a:extLst>
          </p:cNvPr>
          <p:cNvSpPr>
            <a:spLocks noGrp="1"/>
          </p:cNvSpPr>
          <p:nvPr>
            <p:ph type="subTitle" idx="1"/>
          </p:nvPr>
        </p:nvSpPr>
        <p:spPr>
          <a:xfrm>
            <a:off x="1154955" y="4777380"/>
            <a:ext cx="8825658" cy="1485768"/>
          </a:xfrm>
        </p:spPr>
        <p:txBody>
          <a:bodyPr>
            <a:normAutofit/>
          </a:bodyPr>
          <a:lstStyle/>
          <a:p>
            <a:endParaRPr lang="pl-PL" dirty="0"/>
          </a:p>
          <a:p>
            <a:r>
              <a:rPr lang="en-GB" b="1" dirty="0"/>
              <a:t>Presented by</a:t>
            </a:r>
            <a:r>
              <a:rPr lang="en-GB" dirty="0"/>
              <a:t>: Norbert Dzikowski</a:t>
            </a:r>
          </a:p>
        </p:txBody>
      </p:sp>
    </p:spTree>
    <p:extLst>
      <p:ext uri="{BB962C8B-B14F-4D97-AF65-F5344CB8AC3E}">
        <p14:creationId xmlns:p14="http://schemas.microsoft.com/office/powerpoint/2010/main" val="16069066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F5227-CF0B-8B42-1567-584523066D8E}"/>
              </a:ext>
            </a:extLst>
          </p:cNvPr>
          <p:cNvSpPr>
            <a:spLocks noGrp="1"/>
          </p:cNvSpPr>
          <p:nvPr>
            <p:ph type="title"/>
          </p:nvPr>
        </p:nvSpPr>
        <p:spPr/>
        <p:txBody>
          <a:bodyPr/>
          <a:lstStyle/>
          <a:p>
            <a:r>
              <a:rPr lang="en-GB" dirty="0"/>
              <a:t>Project Overview and Business Goals</a:t>
            </a:r>
          </a:p>
        </p:txBody>
      </p:sp>
      <p:sp>
        <p:nvSpPr>
          <p:cNvPr id="3" name="Content Placeholder 2">
            <a:extLst>
              <a:ext uri="{FF2B5EF4-FFF2-40B4-BE49-F238E27FC236}">
                <a16:creationId xmlns:a16="http://schemas.microsoft.com/office/drawing/2014/main" id="{5607C0AF-C203-0F09-4FD0-91B39EED602F}"/>
              </a:ext>
            </a:extLst>
          </p:cNvPr>
          <p:cNvSpPr>
            <a:spLocks noGrp="1"/>
          </p:cNvSpPr>
          <p:nvPr>
            <p:ph idx="1"/>
          </p:nvPr>
        </p:nvSpPr>
        <p:spPr/>
        <p:txBody>
          <a:bodyPr/>
          <a:lstStyle/>
          <a:p>
            <a:pPr>
              <a:lnSpc>
                <a:spcPct val="150000"/>
              </a:lnSpc>
            </a:pPr>
            <a:r>
              <a:rPr lang="en-GB" dirty="0"/>
              <a:t>Objective: Analy</a:t>
            </a:r>
            <a:r>
              <a:rPr lang="pl-PL" dirty="0"/>
              <a:t>s</a:t>
            </a:r>
            <a:r>
              <a:rPr lang="en-GB" dirty="0"/>
              <a:t>e sales data to uncover actionable insights.</a:t>
            </a:r>
            <a:endParaRPr lang="pl-PL" dirty="0"/>
          </a:p>
          <a:p>
            <a:pPr>
              <a:lnSpc>
                <a:spcPct val="150000"/>
              </a:lnSpc>
            </a:pPr>
            <a:r>
              <a:rPr lang="en-GB" dirty="0"/>
              <a:t>Problem Addressed:</a:t>
            </a:r>
            <a:r>
              <a:rPr lang="pl-PL" dirty="0"/>
              <a:t> </a:t>
            </a:r>
          </a:p>
          <a:p>
            <a:pPr lvl="1">
              <a:lnSpc>
                <a:spcPct val="150000"/>
              </a:lnSpc>
              <a:buFont typeface="Arial" panose="020B0604020202020204" pitchFamily="34" charset="0"/>
              <a:buChar char="•"/>
            </a:pPr>
            <a:r>
              <a:rPr lang="en-GB" dirty="0"/>
              <a:t>Understanding which sales methods are most effective.</a:t>
            </a:r>
            <a:endParaRPr lang="pl-PL" dirty="0"/>
          </a:p>
          <a:p>
            <a:pPr lvl="1">
              <a:lnSpc>
                <a:spcPct val="150000"/>
              </a:lnSpc>
              <a:buFont typeface="Arial" panose="020B0604020202020204" pitchFamily="34" charset="0"/>
              <a:buChar char="•"/>
            </a:pPr>
            <a:r>
              <a:rPr lang="en-GB" dirty="0"/>
              <a:t>Identifying opportunities to increase revenue.</a:t>
            </a:r>
            <a:endParaRPr lang="pl-PL" dirty="0"/>
          </a:p>
          <a:p>
            <a:pPr>
              <a:lnSpc>
                <a:spcPct val="150000"/>
              </a:lnSpc>
            </a:pPr>
            <a:r>
              <a:rPr lang="en-GB" dirty="0"/>
              <a:t>Business Goal:</a:t>
            </a:r>
            <a:r>
              <a:rPr lang="pl-PL" dirty="0"/>
              <a:t> </a:t>
            </a:r>
            <a:r>
              <a:rPr lang="en-GB" dirty="0"/>
              <a:t>Optimize resource allocation to maximize revenue and improve sales efficiency.</a:t>
            </a:r>
          </a:p>
        </p:txBody>
      </p:sp>
    </p:spTree>
    <p:extLst>
      <p:ext uri="{BB962C8B-B14F-4D97-AF65-F5344CB8AC3E}">
        <p14:creationId xmlns:p14="http://schemas.microsoft.com/office/powerpoint/2010/main" val="33249946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11791F-30FC-4159-CFC8-6156B70B167C}"/>
              </a:ext>
            </a:extLst>
          </p:cNvPr>
          <p:cNvSpPr>
            <a:spLocks noGrp="1"/>
          </p:cNvSpPr>
          <p:nvPr>
            <p:ph type="title"/>
          </p:nvPr>
        </p:nvSpPr>
        <p:spPr/>
        <p:txBody>
          <a:bodyPr/>
          <a:lstStyle/>
          <a:p>
            <a:r>
              <a:rPr lang="en-GB" dirty="0"/>
              <a:t>Summary of Work Undertaken</a:t>
            </a:r>
          </a:p>
        </p:txBody>
      </p:sp>
      <p:sp>
        <p:nvSpPr>
          <p:cNvPr id="3" name="Content Placeholder 2">
            <a:extLst>
              <a:ext uri="{FF2B5EF4-FFF2-40B4-BE49-F238E27FC236}">
                <a16:creationId xmlns:a16="http://schemas.microsoft.com/office/drawing/2014/main" id="{F5BBD64D-E2A2-96B4-C6D9-231E5EEE3E5E}"/>
              </a:ext>
            </a:extLst>
          </p:cNvPr>
          <p:cNvSpPr>
            <a:spLocks noGrp="1"/>
          </p:cNvSpPr>
          <p:nvPr>
            <p:ph idx="1"/>
          </p:nvPr>
        </p:nvSpPr>
        <p:spPr/>
        <p:txBody>
          <a:bodyPr/>
          <a:lstStyle/>
          <a:p>
            <a:pPr>
              <a:lnSpc>
                <a:spcPct val="150000"/>
              </a:lnSpc>
            </a:pPr>
            <a:r>
              <a:rPr lang="en-GB" dirty="0"/>
              <a:t>Data Cleaning: Handled missing, duplicate, and inconsistent data to ensure accuracy.</a:t>
            </a:r>
            <a:endParaRPr lang="pl-PL" dirty="0"/>
          </a:p>
          <a:p>
            <a:pPr>
              <a:lnSpc>
                <a:spcPct val="150000"/>
              </a:lnSpc>
            </a:pPr>
            <a:r>
              <a:rPr lang="en-GB" dirty="0"/>
              <a:t>Exploration: Investigated sales trends, revenue distributions, and method performance.</a:t>
            </a:r>
            <a:endParaRPr lang="pl-PL" dirty="0"/>
          </a:p>
          <a:p>
            <a:pPr>
              <a:lnSpc>
                <a:spcPct val="150000"/>
              </a:lnSpc>
            </a:pPr>
            <a:r>
              <a:rPr lang="en-GB" dirty="0"/>
              <a:t>Metric Development: Established revenue per sales method as the key metric.</a:t>
            </a:r>
          </a:p>
        </p:txBody>
      </p:sp>
    </p:spTree>
    <p:extLst>
      <p:ext uri="{BB962C8B-B14F-4D97-AF65-F5344CB8AC3E}">
        <p14:creationId xmlns:p14="http://schemas.microsoft.com/office/powerpoint/2010/main" val="38200609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1AFA84-F2DD-E2A8-9E40-A54DFC18D3F0}"/>
              </a:ext>
            </a:extLst>
          </p:cNvPr>
          <p:cNvSpPr>
            <a:spLocks noGrp="1"/>
          </p:cNvSpPr>
          <p:nvPr>
            <p:ph type="title"/>
          </p:nvPr>
        </p:nvSpPr>
        <p:spPr>
          <a:xfrm>
            <a:off x="643855" y="1447799"/>
            <a:ext cx="3108626" cy="1444752"/>
          </a:xfrm>
        </p:spPr>
        <p:txBody>
          <a:bodyPr anchor="b">
            <a:normAutofit/>
          </a:bodyPr>
          <a:lstStyle/>
          <a:p>
            <a:r>
              <a:rPr lang="en-GB" sz="3200" dirty="0"/>
              <a:t>Revenue Distribution</a:t>
            </a:r>
          </a:p>
        </p:txBody>
      </p:sp>
      <p:sp>
        <p:nvSpPr>
          <p:cNvPr id="15" name="Freeform 11">
            <a:extLst>
              <a:ext uri="{FF2B5EF4-FFF2-40B4-BE49-F238E27FC236}">
                <a16:creationId xmlns:a16="http://schemas.microsoft.com/office/drawing/2014/main" id="{2FEA51AE-2D18-46BE-B2CA-B90B131689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4811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14" name="Rectangle 13">
            <a:extLst>
              <a:ext uri="{FF2B5EF4-FFF2-40B4-BE49-F238E27FC236}">
                <a16:creationId xmlns:a16="http://schemas.microsoft.com/office/drawing/2014/main" id="{5E6A537E-C106-45AE-9BBB-3CE5594418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5">
            <a:extLst>
              <a:ext uri="{FF2B5EF4-FFF2-40B4-BE49-F238E27FC236}">
                <a16:creationId xmlns:a16="http://schemas.microsoft.com/office/drawing/2014/main" id="{F918BA52-E4A7-4EEC-898E-C49023767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1404667" y="2756642"/>
            <a:ext cx="6858000" cy="1344715"/>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rgbClr val="FFFFFF"/>
          </a:solidFill>
          <a:ln>
            <a:noFill/>
          </a:ln>
        </p:spPr>
        <p:txBody>
          <a:bodyPr/>
          <a:lstStyle/>
          <a:p>
            <a:endParaRPr lang="en-GB"/>
          </a:p>
        </p:txBody>
      </p:sp>
      <p:sp>
        <p:nvSpPr>
          <p:cNvPr id="18" name="Rectangle 17">
            <a:extLst>
              <a:ext uri="{FF2B5EF4-FFF2-40B4-BE49-F238E27FC236}">
                <a16:creationId xmlns:a16="http://schemas.microsoft.com/office/drawing/2014/main" id="{86D3F3B7-282C-4DDC-AD1B-C497F2942B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7" name="Content Placeholder 8">
            <a:extLst>
              <a:ext uri="{FF2B5EF4-FFF2-40B4-BE49-F238E27FC236}">
                <a16:creationId xmlns:a16="http://schemas.microsoft.com/office/drawing/2014/main" id="{DE864E49-4BDC-ED8D-AC66-AA5B39C113B7}"/>
              </a:ext>
            </a:extLst>
          </p:cNvPr>
          <p:cNvSpPr>
            <a:spLocks noGrp="1"/>
          </p:cNvSpPr>
          <p:nvPr>
            <p:ph idx="1"/>
          </p:nvPr>
        </p:nvSpPr>
        <p:spPr>
          <a:xfrm>
            <a:off x="643855" y="3072385"/>
            <a:ext cx="3517454" cy="2947415"/>
          </a:xfrm>
        </p:spPr>
        <p:txBody>
          <a:bodyPr>
            <a:normAutofit/>
          </a:bodyPr>
          <a:lstStyle/>
          <a:p>
            <a:pPr>
              <a:lnSpc>
                <a:spcPct val="150000"/>
              </a:lnSpc>
            </a:pPr>
            <a:r>
              <a:rPr lang="en-GB" sz="1400" dirty="0"/>
              <a:t>The revenue distribution is right-skewed, with most transactions generating low revenue. This highlights an opportunity to focus on strategies, like upselling or targeting high-value customers, to increase average transaction value and overall revenue growth.</a:t>
            </a:r>
            <a:endParaRPr lang="en-US" sz="1800" dirty="0"/>
          </a:p>
        </p:txBody>
      </p:sp>
      <p:pic>
        <p:nvPicPr>
          <p:cNvPr id="5" name="Content Placeholder 4">
            <a:extLst>
              <a:ext uri="{FF2B5EF4-FFF2-40B4-BE49-F238E27FC236}">
                <a16:creationId xmlns:a16="http://schemas.microsoft.com/office/drawing/2014/main" id="{896541A1-4AF5-5ACD-6AE9-B9711E844183}"/>
              </a:ext>
            </a:extLst>
          </p:cNvPr>
          <p:cNvPicPr>
            <a:picLocks noChangeAspect="1"/>
          </p:cNvPicPr>
          <p:nvPr/>
        </p:nvPicPr>
        <p:blipFill>
          <a:blip r:embed="rId3"/>
          <a:stretch>
            <a:fillRect/>
          </a:stretch>
        </p:blipFill>
        <p:spPr>
          <a:xfrm>
            <a:off x="5048451" y="1728207"/>
            <a:ext cx="6495847" cy="4011184"/>
          </a:xfrm>
          <a:prstGeom prst="rect">
            <a:avLst/>
          </a:prstGeom>
          <a:effectLst/>
        </p:spPr>
      </p:pic>
    </p:spTree>
    <p:extLst>
      <p:ext uri="{BB962C8B-B14F-4D97-AF65-F5344CB8AC3E}">
        <p14:creationId xmlns:p14="http://schemas.microsoft.com/office/powerpoint/2010/main" val="5231055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a:extLst>
            <a:ext uri="{FF2B5EF4-FFF2-40B4-BE49-F238E27FC236}">
              <a16:creationId xmlns:a16="http://schemas.microsoft.com/office/drawing/2014/main" id="{794D0DB2-6F04-AC02-E775-235106AE7A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4D0DB5-7B09-E854-C59D-28372D88B70A}"/>
              </a:ext>
            </a:extLst>
          </p:cNvPr>
          <p:cNvSpPr>
            <a:spLocks noGrp="1"/>
          </p:cNvSpPr>
          <p:nvPr>
            <p:ph type="title"/>
          </p:nvPr>
        </p:nvSpPr>
        <p:spPr>
          <a:xfrm>
            <a:off x="643855" y="1280650"/>
            <a:ext cx="3108626" cy="1444752"/>
          </a:xfrm>
        </p:spPr>
        <p:txBody>
          <a:bodyPr anchor="b">
            <a:normAutofit/>
          </a:bodyPr>
          <a:lstStyle/>
          <a:p>
            <a:r>
              <a:rPr lang="pl-PL" sz="3200" dirty="0"/>
              <a:t>F</a:t>
            </a:r>
            <a:r>
              <a:rPr lang="en-GB" sz="3200" dirty="0" err="1"/>
              <a:t>requency</a:t>
            </a:r>
            <a:r>
              <a:rPr lang="en-GB" sz="3200" dirty="0"/>
              <a:t> of Sales Methods</a:t>
            </a:r>
          </a:p>
        </p:txBody>
      </p:sp>
      <p:sp>
        <p:nvSpPr>
          <p:cNvPr id="15" name="Freeform 11">
            <a:extLst>
              <a:ext uri="{FF2B5EF4-FFF2-40B4-BE49-F238E27FC236}">
                <a16:creationId xmlns:a16="http://schemas.microsoft.com/office/drawing/2014/main" id="{B03FCCB9-F5BA-9B89-A119-A9685ED406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4811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14" name="Rectangle 13">
            <a:extLst>
              <a:ext uri="{FF2B5EF4-FFF2-40B4-BE49-F238E27FC236}">
                <a16:creationId xmlns:a16="http://schemas.microsoft.com/office/drawing/2014/main" id="{91C9BD23-4B19-4928-7B6F-82259DB17C0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5">
            <a:extLst>
              <a:ext uri="{FF2B5EF4-FFF2-40B4-BE49-F238E27FC236}">
                <a16:creationId xmlns:a16="http://schemas.microsoft.com/office/drawing/2014/main" id="{D8DC6426-7724-C049-B04B-D8AA6D6DFF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1404667" y="2756642"/>
            <a:ext cx="6858000" cy="1344715"/>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rgbClr val="FFFFFF"/>
          </a:solidFill>
          <a:ln>
            <a:noFill/>
          </a:ln>
        </p:spPr>
        <p:txBody>
          <a:bodyPr/>
          <a:lstStyle/>
          <a:p>
            <a:endParaRPr lang="en-GB"/>
          </a:p>
        </p:txBody>
      </p:sp>
      <p:sp>
        <p:nvSpPr>
          <p:cNvPr id="18" name="Rectangle 17">
            <a:extLst>
              <a:ext uri="{FF2B5EF4-FFF2-40B4-BE49-F238E27FC236}">
                <a16:creationId xmlns:a16="http://schemas.microsoft.com/office/drawing/2014/main" id="{8DECE073-8892-D0FB-5430-A69A79990F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17" name="Content Placeholder 8">
            <a:extLst>
              <a:ext uri="{FF2B5EF4-FFF2-40B4-BE49-F238E27FC236}">
                <a16:creationId xmlns:a16="http://schemas.microsoft.com/office/drawing/2014/main" id="{C5E63CF4-3D32-7F35-1AB9-6E20D671B20C}"/>
              </a:ext>
            </a:extLst>
          </p:cNvPr>
          <p:cNvSpPr>
            <a:spLocks noGrp="1"/>
          </p:cNvSpPr>
          <p:nvPr>
            <p:ph idx="1"/>
          </p:nvPr>
        </p:nvSpPr>
        <p:spPr>
          <a:xfrm>
            <a:off x="643855" y="3072385"/>
            <a:ext cx="3517454" cy="2947415"/>
          </a:xfrm>
        </p:spPr>
        <p:txBody>
          <a:bodyPr>
            <a:normAutofit/>
          </a:bodyPr>
          <a:lstStyle/>
          <a:p>
            <a:pPr>
              <a:lnSpc>
                <a:spcPct val="150000"/>
              </a:lnSpc>
            </a:pPr>
            <a:r>
              <a:rPr lang="en-GB" sz="1400" dirty="0"/>
              <a:t>The bar plot shows the frequency of each sales method. The more frequent methods may indicate customer preference or team strategy. This analysis can guide decisions about resource allocation for different sales methods.</a:t>
            </a:r>
            <a:endParaRPr lang="en-US" sz="1800" dirty="0"/>
          </a:p>
        </p:txBody>
      </p:sp>
      <p:pic>
        <p:nvPicPr>
          <p:cNvPr id="4" name="Picture 3">
            <a:extLst>
              <a:ext uri="{FF2B5EF4-FFF2-40B4-BE49-F238E27FC236}">
                <a16:creationId xmlns:a16="http://schemas.microsoft.com/office/drawing/2014/main" id="{B53ECF6B-2E02-C02B-721A-20A815E9761A}"/>
              </a:ext>
            </a:extLst>
          </p:cNvPr>
          <p:cNvPicPr>
            <a:picLocks noChangeAspect="1"/>
          </p:cNvPicPr>
          <p:nvPr/>
        </p:nvPicPr>
        <p:blipFill>
          <a:blip r:embed="rId3"/>
          <a:stretch>
            <a:fillRect/>
          </a:stretch>
        </p:blipFill>
        <p:spPr>
          <a:xfrm>
            <a:off x="4507582" y="1416104"/>
            <a:ext cx="7432759" cy="4587074"/>
          </a:xfrm>
          <a:prstGeom prst="rect">
            <a:avLst/>
          </a:prstGeom>
        </p:spPr>
      </p:pic>
    </p:spTree>
    <p:extLst>
      <p:ext uri="{BB962C8B-B14F-4D97-AF65-F5344CB8AC3E}">
        <p14:creationId xmlns:p14="http://schemas.microsoft.com/office/powerpoint/2010/main" val="24472001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17034-A952-07CE-21BF-9CBB4AE44F8D}"/>
              </a:ext>
            </a:extLst>
          </p:cNvPr>
          <p:cNvSpPr>
            <a:spLocks noGrp="1"/>
          </p:cNvSpPr>
          <p:nvPr>
            <p:ph type="title"/>
          </p:nvPr>
        </p:nvSpPr>
        <p:spPr>
          <a:xfrm>
            <a:off x="643855" y="1447799"/>
            <a:ext cx="3108626" cy="1444752"/>
          </a:xfrm>
        </p:spPr>
        <p:txBody>
          <a:bodyPr anchor="b">
            <a:normAutofit/>
          </a:bodyPr>
          <a:lstStyle/>
          <a:p>
            <a:r>
              <a:rPr lang="en-GB" sz="3200" dirty="0"/>
              <a:t>Revenue by Sales Method</a:t>
            </a:r>
          </a:p>
        </p:txBody>
      </p:sp>
      <p:sp>
        <p:nvSpPr>
          <p:cNvPr id="27" name="Freeform 11">
            <a:extLst>
              <a:ext uri="{FF2B5EF4-FFF2-40B4-BE49-F238E27FC236}">
                <a16:creationId xmlns:a16="http://schemas.microsoft.com/office/drawing/2014/main" id="{2FEA51AE-2D18-46BE-B2CA-B90B131689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4811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28" name="Rectangle 27">
            <a:extLst>
              <a:ext uri="{FF2B5EF4-FFF2-40B4-BE49-F238E27FC236}">
                <a16:creationId xmlns:a16="http://schemas.microsoft.com/office/drawing/2014/main" id="{5E6A537E-C106-45AE-9BBB-3CE5594418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5">
            <a:extLst>
              <a:ext uri="{FF2B5EF4-FFF2-40B4-BE49-F238E27FC236}">
                <a16:creationId xmlns:a16="http://schemas.microsoft.com/office/drawing/2014/main" id="{F918BA52-E4A7-4EEC-898E-C49023767C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1404667" y="2756642"/>
            <a:ext cx="6858000" cy="1344715"/>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rgbClr val="FFFFFF"/>
          </a:solidFill>
          <a:ln>
            <a:noFill/>
          </a:ln>
        </p:spPr>
        <p:txBody>
          <a:bodyPr/>
          <a:lstStyle/>
          <a:p>
            <a:endParaRPr lang="en-GB"/>
          </a:p>
        </p:txBody>
      </p:sp>
      <p:sp>
        <p:nvSpPr>
          <p:cNvPr id="30" name="Rectangle 29">
            <a:extLst>
              <a:ext uri="{FF2B5EF4-FFF2-40B4-BE49-F238E27FC236}">
                <a16:creationId xmlns:a16="http://schemas.microsoft.com/office/drawing/2014/main" id="{86D3F3B7-282C-4DDC-AD1B-C497F2942B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8" name="Content Placeholder 7">
            <a:extLst>
              <a:ext uri="{FF2B5EF4-FFF2-40B4-BE49-F238E27FC236}">
                <a16:creationId xmlns:a16="http://schemas.microsoft.com/office/drawing/2014/main" id="{37069B4E-624B-10AD-9B94-10CE71DD2F33}"/>
              </a:ext>
            </a:extLst>
          </p:cNvPr>
          <p:cNvSpPr>
            <a:spLocks noGrp="1"/>
          </p:cNvSpPr>
          <p:nvPr>
            <p:ph idx="1"/>
          </p:nvPr>
        </p:nvSpPr>
        <p:spPr>
          <a:xfrm>
            <a:off x="643855" y="3072385"/>
            <a:ext cx="3517454" cy="2947415"/>
          </a:xfrm>
        </p:spPr>
        <p:txBody>
          <a:bodyPr>
            <a:normAutofit/>
          </a:bodyPr>
          <a:lstStyle/>
          <a:p>
            <a:pPr>
              <a:lnSpc>
                <a:spcPct val="150000"/>
              </a:lnSpc>
            </a:pPr>
            <a:r>
              <a:rPr lang="en-GB" sz="1400" dirty="0"/>
              <a:t>Email + Call' generates the highest median revenue and widest range, making it ideal for high-value sales. 'Email' is cost-efficient for consistent, moderate revenue, while 'Call' is suited for targeted customer segments. These insights guide method-specific strategies to maximize revenue.</a:t>
            </a:r>
            <a:endParaRPr lang="en-US" sz="1400" dirty="0"/>
          </a:p>
        </p:txBody>
      </p:sp>
      <p:pic>
        <p:nvPicPr>
          <p:cNvPr id="4" name="Content Placeholder 3" descr="A diagram of sales method&#10;&#10;Description automatically generated">
            <a:extLst>
              <a:ext uri="{FF2B5EF4-FFF2-40B4-BE49-F238E27FC236}">
                <a16:creationId xmlns:a16="http://schemas.microsoft.com/office/drawing/2014/main" id="{7D83AD1D-BB96-9029-FF84-1509A9D03D5E}"/>
              </a:ext>
            </a:extLst>
          </p:cNvPr>
          <p:cNvPicPr>
            <a:picLocks noChangeAspect="1"/>
          </p:cNvPicPr>
          <p:nvPr/>
        </p:nvPicPr>
        <p:blipFill>
          <a:blip r:embed="rId3"/>
          <a:stretch>
            <a:fillRect/>
          </a:stretch>
        </p:blipFill>
        <p:spPr>
          <a:xfrm>
            <a:off x="4594349" y="1317522"/>
            <a:ext cx="7450167" cy="4702277"/>
          </a:xfrm>
          <a:prstGeom prst="rect">
            <a:avLst/>
          </a:prstGeom>
          <a:effectLst/>
        </p:spPr>
      </p:pic>
    </p:spTree>
    <p:extLst>
      <p:ext uri="{BB962C8B-B14F-4D97-AF65-F5344CB8AC3E}">
        <p14:creationId xmlns:p14="http://schemas.microsoft.com/office/powerpoint/2010/main" val="30333943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62000"/>
                <a:hueMod val="108000"/>
                <a:satMod val="164000"/>
                <a:lumMod val="69000"/>
              </a:schemeClr>
              <a:schemeClr val="bg2">
                <a:tint val="96000"/>
                <a:hueMod val="90000"/>
                <a:satMod val="130000"/>
                <a:lumMod val="134000"/>
              </a:schemeClr>
            </a:duotone>
          </a:blip>
          <a:stretch/>
        </a:blipFill>
        <a:effectLst/>
      </p:bgPr>
    </p:bg>
    <p:spTree>
      <p:nvGrpSpPr>
        <p:cNvPr id="1" name="">
          <a:extLst>
            <a:ext uri="{FF2B5EF4-FFF2-40B4-BE49-F238E27FC236}">
              <a16:creationId xmlns:a16="http://schemas.microsoft.com/office/drawing/2014/main" id="{D49DE93C-5609-B76F-3531-EA172F6BD4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F9AAF7-C1B6-1DD7-78C1-2A4B94A9ADEB}"/>
              </a:ext>
            </a:extLst>
          </p:cNvPr>
          <p:cNvSpPr>
            <a:spLocks noGrp="1"/>
          </p:cNvSpPr>
          <p:nvPr>
            <p:ph type="title"/>
          </p:nvPr>
        </p:nvSpPr>
        <p:spPr>
          <a:xfrm>
            <a:off x="643855" y="1447799"/>
            <a:ext cx="3108626" cy="1444752"/>
          </a:xfrm>
        </p:spPr>
        <p:txBody>
          <a:bodyPr anchor="b">
            <a:normAutofit fontScale="90000"/>
          </a:bodyPr>
          <a:lstStyle/>
          <a:p>
            <a:r>
              <a:rPr lang="en-GB" sz="3200" dirty="0"/>
              <a:t>Relationship Between Products Sold and Revenue</a:t>
            </a:r>
          </a:p>
        </p:txBody>
      </p:sp>
      <p:sp>
        <p:nvSpPr>
          <p:cNvPr id="27" name="Freeform 11">
            <a:extLst>
              <a:ext uri="{FF2B5EF4-FFF2-40B4-BE49-F238E27FC236}">
                <a16:creationId xmlns:a16="http://schemas.microsoft.com/office/drawing/2014/main" id="{D8598F61-68C8-CA77-36C9-02EC6DD726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48110" y="-1"/>
            <a:ext cx="559472" cy="3709642"/>
          </a:xfrm>
          <a:custGeom>
            <a:avLst/>
            <a:gdLst>
              <a:gd name="connsiteX0" fmla="*/ 0 w 559472"/>
              <a:gd name="connsiteY0" fmla="*/ 0 h 3709642"/>
              <a:gd name="connsiteX1" fmla="*/ 473952 w 559472"/>
              <a:gd name="connsiteY1" fmla="*/ 0 h 3709642"/>
              <a:gd name="connsiteX2" fmla="*/ 485840 w 559472"/>
              <a:gd name="connsiteY2" fmla="*/ 161194 h 3709642"/>
              <a:gd name="connsiteX3" fmla="*/ 523949 w 559472"/>
              <a:gd name="connsiteY3" fmla="*/ 3672197 h 3709642"/>
              <a:gd name="connsiteX4" fmla="*/ 454748 w 559472"/>
              <a:gd name="connsiteY4" fmla="*/ 3709642 h 3709642"/>
              <a:gd name="connsiteX5" fmla="*/ 448224 w 559472"/>
              <a:gd name="connsiteY5" fmla="*/ 3510471 h 3709642"/>
              <a:gd name="connsiteX6" fmla="*/ 443564 w 559472"/>
              <a:gd name="connsiteY6" fmla="*/ 3408563 h 3709642"/>
              <a:gd name="connsiteX7" fmla="*/ 438902 w 559472"/>
              <a:gd name="connsiteY7" fmla="*/ 3304407 h 3709642"/>
              <a:gd name="connsiteX8" fmla="*/ 433941 w 559472"/>
              <a:gd name="connsiteY8" fmla="*/ 3198777 h 3709642"/>
              <a:gd name="connsiteX9" fmla="*/ 427584 w 559472"/>
              <a:gd name="connsiteY9" fmla="*/ 3092510 h 3709642"/>
              <a:gd name="connsiteX10" fmla="*/ 420988 w 559472"/>
              <a:gd name="connsiteY10" fmla="*/ 2984390 h 3709642"/>
              <a:gd name="connsiteX11" fmla="*/ 414330 w 559472"/>
              <a:gd name="connsiteY11" fmla="*/ 2874401 h 3709642"/>
              <a:gd name="connsiteX12" fmla="*/ 406840 w 559472"/>
              <a:gd name="connsiteY12" fmla="*/ 2762980 h 3709642"/>
              <a:gd name="connsiteX13" fmla="*/ 397745 w 559472"/>
              <a:gd name="connsiteY13" fmla="*/ 2650566 h 3709642"/>
              <a:gd name="connsiteX14" fmla="*/ 389154 w 559472"/>
              <a:gd name="connsiteY14" fmla="*/ 2536612 h 3709642"/>
              <a:gd name="connsiteX15" fmla="*/ 379225 w 559472"/>
              <a:gd name="connsiteY15" fmla="*/ 2421642 h 3709642"/>
              <a:gd name="connsiteX16" fmla="*/ 368316 w 559472"/>
              <a:gd name="connsiteY16" fmla="*/ 2305627 h 3709642"/>
              <a:gd name="connsiteX17" fmla="*/ 357466 w 559472"/>
              <a:gd name="connsiteY17" fmla="*/ 2189233 h 3709642"/>
              <a:gd name="connsiteX18" fmla="*/ 344982 w 559472"/>
              <a:gd name="connsiteY18" fmla="*/ 2071473 h 3709642"/>
              <a:gd name="connsiteX19" fmla="*/ 332466 w 559472"/>
              <a:gd name="connsiteY19" fmla="*/ 1952216 h 3709642"/>
              <a:gd name="connsiteX20" fmla="*/ 319121 w 559472"/>
              <a:gd name="connsiteY20" fmla="*/ 1833776 h 3709642"/>
              <a:gd name="connsiteX21" fmla="*/ 304408 w 559472"/>
              <a:gd name="connsiteY21" fmla="*/ 1713948 h 3709642"/>
              <a:gd name="connsiteX22" fmla="*/ 288685 w 559472"/>
              <a:gd name="connsiteY22" fmla="*/ 1592703 h 3709642"/>
              <a:gd name="connsiteX23" fmla="*/ 273050 w 559472"/>
              <a:gd name="connsiteY23" fmla="*/ 1471451 h 3709642"/>
              <a:gd name="connsiteX24" fmla="*/ 255813 w 559472"/>
              <a:gd name="connsiteY24" fmla="*/ 1350328 h 3709642"/>
              <a:gd name="connsiteX25" fmla="*/ 237060 w 559472"/>
              <a:gd name="connsiteY25" fmla="*/ 1227080 h 3709642"/>
              <a:gd name="connsiteX26" fmla="*/ 218488 w 559472"/>
              <a:gd name="connsiteY26" fmla="*/ 1106065 h 3709642"/>
              <a:gd name="connsiteX27" fmla="*/ 198221 w 559472"/>
              <a:gd name="connsiteY27" fmla="*/ 982940 h 3709642"/>
              <a:gd name="connsiteX28" fmla="*/ 177152 w 559472"/>
              <a:gd name="connsiteY28" fmla="*/ 858755 h 3709642"/>
              <a:gd name="connsiteX29" fmla="*/ 155551 w 559472"/>
              <a:gd name="connsiteY29" fmla="*/ 736861 h 3709642"/>
              <a:gd name="connsiteX30" fmla="*/ 131782 w 559472"/>
              <a:gd name="connsiteY30" fmla="*/ 613645 h 3709642"/>
              <a:gd name="connsiteX31" fmla="*/ 107123 w 559472"/>
              <a:gd name="connsiteY31" fmla="*/ 490500 h 3709642"/>
              <a:gd name="connsiteX32" fmla="*/ 82552 w 559472"/>
              <a:gd name="connsiteY32" fmla="*/ 367348 h 3709642"/>
              <a:gd name="connsiteX33" fmla="*/ 55608 w 559472"/>
              <a:gd name="connsiteY33" fmla="*/ 244762 h 3709642"/>
              <a:gd name="connsiteX34" fmla="*/ 28130 w 559472"/>
              <a:gd name="connsiteY34" fmla="*/ 122220 h 3709642"/>
              <a:gd name="connsiteX35" fmla="*/ 0 w 559472"/>
              <a:gd name="connsiteY35" fmla="*/ 0 h 3709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559472" h="3709642">
                <a:moveTo>
                  <a:pt x="0" y="0"/>
                </a:moveTo>
                <a:lnTo>
                  <a:pt x="473952" y="0"/>
                </a:lnTo>
                <a:lnTo>
                  <a:pt x="485840" y="161194"/>
                </a:lnTo>
                <a:cubicBezTo>
                  <a:pt x="552063" y="1147770"/>
                  <a:pt x="592441" y="3086737"/>
                  <a:pt x="523949" y="3672197"/>
                </a:cubicBezTo>
                <a:cubicBezTo>
                  <a:pt x="500842" y="3684557"/>
                  <a:pt x="477855" y="3697282"/>
                  <a:pt x="454748" y="3709642"/>
                </a:cubicBezTo>
                <a:lnTo>
                  <a:pt x="448224" y="3510471"/>
                </a:lnTo>
                <a:lnTo>
                  <a:pt x="443564" y="3408563"/>
                </a:lnTo>
                <a:lnTo>
                  <a:pt x="438902" y="3304407"/>
                </a:lnTo>
                <a:lnTo>
                  <a:pt x="433941" y="3198777"/>
                </a:lnTo>
                <a:lnTo>
                  <a:pt x="427584" y="3092510"/>
                </a:lnTo>
                <a:lnTo>
                  <a:pt x="420988" y="2984390"/>
                </a:lnTo>
                <a:lnTo>
                  <a:pt x="414330" y="2874401"/>
                </a:lnTo>
                <a:lnTo>
                  <a:pt x="406840" y="2762980"/>
                </a:lnTo>
                <a:lnTo>
                  <a:pt x="397745" y="2650566"/>
                </a:lnTo>
                <a:lnTo>
                  <a:pt x="389154" y="2536612"/>
                </a:lnTo>
                <a:lnTo>
                  <a:pt x="379225" y="2421642"/>
                </a:lnTo>
                <a:lnTo>
                  <a:pt x="368316" y="2305627"/>
                </a:lnTo>
                <a:lnTo>
                  <a:pt x="357466" y="2189233"/>
                </a:lnTo>
                <a:lnTo>
                  <a:pt x="344982" y="2071473"/>
                </a:lnTo>
                <a:lnTo>
                  <a:pt x="332466" y="1952216"/>
                </a:lnTo>
                <a:lnTo>
                  <a:pt x="319121" y="1833776"/>
                </a:lnTo>
                <a:lnTo>
                  <a:pt x="304408" y="1713948"/>
                </a:lnTo>
                <a:lnTo>
                  <a:pt x="288685" y="1592703"/>
                </a:lnTo>
                <a:lnTo>
                  <a:pt x="273050" y="1471451"/>
                </a:lnTo>
                <a:lnTo>
                  <a:pt x="255813" y="1350328"/>
                </a:lnTo>
                <a:lnTo>
                  <a:pt x="237060" y="1227080"/>
                </a:lnTo>
                <a:lnTo>
                  <a:pt x="218488" y="1106065"/>
                </a:lnTo>
                <a:lnTo>
                  <a:pt x="198221" y="982940"/>
                </a:lnTo>
                <a:lnTo>
                  <a:pt x="177152" y="858755"/>
                </a:lnTo>
                <a:lnTo>
                  <a:pt x="155551" y="736861"/>
                </a:lnTo>
                <a:lnTo>
                  <a:pt x="131782" y="613645"/>
                </a:lnTo>
                <a:lnTo>
                  <a:pt x="107123" y="490500"/>
                </a:lnTo>
                <a:lnTo>
                  <a:pt x="82552" y="367348"/>
                </a:lnTo>
                <a:lnTo>
                  <a:pt x="55608" y="244762"/>
                </a:lnTo>
                <a:lnTo>
                  <a:pt x="28130" y="122220"/>
                </a:lnTo>
                <a:lnTo>
                  <a:pt x="0" y="0"/>
                </a:lnTo>
                <a:close/>
              </a:path>
            </a:pathLst>
          </a:custGeom>
          <a:solidFill>
            <a:schemeClr val="tx1">
              <a:alpha val="20000"/>
            </a:schemeClr>
          </a:solidFill>
          <a:ln>
            <a:noFill/>
          </a:ln>
        </p:spPr>
        <p:txBody>
          <a:bodyPr rtlCol="0" anchor="ctr"/>
          <a:lstStyle/>
          <a:p>
            <a:pPr algn="ctr"/>
            <a:endParaRPr lang="en-US"/>
          </a:p>
        </p:txBody>
      </p:sp>
      <p:sp>
        <p:nvSpPr>
          <p:cNvPr id="28" name="Rectangle 27">
            <a:extLst>
              <a:ext uri="{FF2B5EF4-FFF2-40B4-BE49-F238E27FC236}">
                <a16:creationId xmlns:a16="http://schemas.microsoft.com/office/drawing/2014/main" id="{C8D48DAB-5AC4-DF18-6D3E-AD71B931AD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Freeform 5">
            <a:extLst>
              <a:ext uri="{FF2B5EF4-FFF2-40B4-BE49-F238E27FC236}">
                <a16:creationId xmlns:a16="http://schemas.microsoft.com/office/drawing/2014/main" id="{653AE23F-6D9C-5BF0-FFAB-6D146D01B9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
          <a:xfrm rot="16200000">
            <a:off x="1404667" y="2756642"/>
            <a:ext cx="6858000" cy="1344715"/>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rgbClr val="FFFFFF"/>
          </a:solidFill>
          <a:ln>
            <a:noFill/>
          </a:ln>
        </p:spPr>
        <p:txBody>
          <a:bodyPr/>
          <a:lstStyle/>
          <a:p>
            <a:endParaRPr lang="en-GB"/>
          </a:p>
        </p:txBody>
      </p:sp>
      <p:sp>
        <p:nvSpPr>
          <p:cNvPr id="30" name="Rectangle 29">
            <a:extLst>
              <a:ext uri="{FF2B5EF4-FFF2-40B4-BE49-F238E27FC236}">
                <a16:creationId xmlns:a16="http://schemas.microsoft.com/office/drawing/2014/main" id="{6647761D-3D19-7441-035C-0B15030278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GB"/>
          </a:p>
        </p:txBody>
      </p:sp>
      <p:sp>
        <p:nvSpPr>
          <p:cNvPr id="8" name="Content Placeholder 7">
            <a:extLst>
              <a:ext uri="{FF2B5EF4-FFF2-40B4-BE49-F238E27FC236}">
                <a16:creationId xmlns:a16="http://schemas.microsoft.com/office/drawing/2014/main" id="{58BDE44C-68F9-4EB0-551E-8C7633351A41}"/>
              </a:ext>
            </a:extLst>
          </p:cNvPr>
          <p:cNvSpPr>
            <a:spLocks noGrp="1"/>
          </p:cNvSpPr>
          <p:nvPr>
            <p:ph idx="1"/>
          </p:nvPr>
        </p:nvSpPr>
        <p:spPr>
          <a:xfrm>
            <a:off x="643854" y="3072385"/>
            <a:ext cx="3649625" cy="3230092"/>
          </a:xfrm>
        </p:spPr>
        <p:txBody>
          <a:bodyPr>
            <a:normAutofit/>
          </a:bodyPr>
          <a:lstStyle/>
          <a:p>
            <a:pPr>
              <a:lnSpc>
                <a:spcPct val="150000"/>
              </a:lnSpc>
            </a:pPr>
            <a:r>
              <a:rPr lang="en-GB" sz="1600" dirty="0"/>
              <a:t>The graph shows that revenue increases with products sold. "Email + Call" generates the highest revenue, "Email" is steady for moderate sales, and "Call" is less effective. Focus on "Email + Call" for maximizing revenue.</a:t>
            </a:r>
            <a:endParaRPr lang="en-US" sz="1800" dirty="0"/>
          </a:p>
        </p:txBody>
      </p:sp>
      <p:pic>
        <p:nvPicPr>
          <p:cNvPr id="5" name="Picture 4">
            <a:extLst>
              <a:ext uri="{FF2B5EF4-FFF2-40B4-BE49-F238E27FC236}">
                <a16:creationId xmlns:a16="http://schemas.microsoft.com/office/drawing/2014/main" id="{92049214-DFA7-FCAA-1F73-B8BF9EE5D3B5}"/>
              </a:ext>
            </a:extLst>
          </p:cNvPr>
          <p:cNvPicPr>
            <a:picLocks noChangeAspect="1"/>
          </p:cNvPicPr>
          <p:nvPr/>
        </p:nvPicPr>
        <p:blipFill>
          <a:blip r:embed="rId3"/>
          <a:stretch>
            <a:fillRect/>
          </a:stretch>
        </p:blipFill>
        <p:spPr>
          <a:xfrm>
            <a:off x="4507583" y="1328476"/>
            <a:ext cx="7470314" cy="4691324"/>
          </a:xfrm>
          <a:prstGeom prst="rect">
            <a:avLst/>
          </a:prstGeom>
        </p:spPr>
      </p:pic>
    </p:spTree>
    <p:extLst>
      <p:ext uri="{BB962C8B-B14F-4D97-AF65-F5344CB8AC3E}">
        <p14:creationId xmlns:p14="http://schemas.microsoft.com/office/powerpoint/2010/main" val="313044853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D7611-C4B3-C860-726D-EE9610B9FEEC}"/>
              </a:ext>
            </a:extLst>
          </p:cNvPr>
          <p:cNvSpPr>
            <a:spLocks noGrp="1"/>
          </p:cNvSpPr>
          <p:nvPr>
            <p:ph type="title"/>
          </p:nvPr>
        </p:nvSpPr>
        <p:spPr/>
        <p:txBody>
          <a:bodyPr/>
          <a:lstStyle/>
          <a:p>
            <a:r>
              <a:rPr lang="en-GB" dirty="0"/>
              <a:t>Key Metric: Revenue per Sales Method</a:t>
            </a:r>
          </a:p>
        </p:txBody>
      </p:sp>
      <p:sp>
        <p:nvSpPr>
          <p:cNvPr id="3" name="Content Placeholder 2">
            <a:extLst>
              <a:ext uri="{FF2B5EF4-FFF2-40B4-BE49-F238E27FC236}">
                <a16:creationId xmlns:a16="http://schemas.microsoft.com/office/drawing/2014/main" id="{99418A3F-40F7-F217-6B4F-A78E662999AB}"/>
              </a:ext>
            </a:extLst>
          </p:cNvPr>
          <p:cNvSpPr>
            <a:spLocks noGrp="1"/>
          </p:cNvSpPr>
          <p:nvPr>
            <p:ph idx="1"/>
          </p:nvPr>
        </p:nvSpPr>
        <p:spPr/>
        <p:txBody>
          <a:bodyPr/>
          <a:lstStyle/>
          <a:p>
            <a:pPr>
              <a:lnSpc>
                <a:spcPct val="150000"/>
              </a:lnSpc>
            </a:pPr>
            <a:r>
              <a:rPr lang="en-GB" dirty="0"/>
              <a:t>Definition: Average revenue generated per method.</a:t>
            </a:r>
            <a:endParaRPr lang="pl-PL" dirty="0"/>
          </a:p>
          <a:p>
            <a:pPr>
              <a:lnSpc>
                <a:spcPct val="150000"/>
              </a:lnSpc>
            </a:pPr>
            <a:r>
              <a:rPr lang="en-GB" dirty="0"/>
              <a:t>Importance: Helps identify which methods are most effective and deserve more resources.</a:t>
            </a:r>
            <a:endParaRPr lang="pl-PL" dirty="0"/>
          </a:p>
          <a:p>
            <a:pPr>
              <a:lnSpc>
                <a:spcPct val="150000"/>
              </a:lnSpc>
            </a:pPr>
            <a:r>
              <a:rPr lang="en-GB" dirty="0"/>
              <a:t>Current Performance:</a:t>
            </a:r>
            <a:endParaRPr lang="pl-PL" dirty="0"/>
          </a:p>
          <a:p>
            <a:pPr lvl="1">
              <a:lnSpc>
                <a:spcPct val="150000"/>
              </a:lnSpc>
              <a:buFont typeface="Arial" panose="020B0604020202020204" pitchFamily="34" charset="0"/>
              <a:buChar char="•"/>
            </a:pPr>
            <a:r>
              <a:rPr lang="en-GB" dirty="0"/>
              <a:t>Call: 49</a:t>
            </a:r>
            <a:r>
              <a:rPr lang="pl-PL" dirty="0"/>
              <a:t>,</a:t>
            </a:r>
            <a:r>
              <a:rPr lang="en-GB" dirty="0"/>
              <a:t>13</a:t>
            </a:r>
            <a:endParaRPr lang="pl-PL" dirty="0"/>
          </a:p>
          <a:p>
            <a:pPr lvl="1">
              <a:lnSpc>
                <a:spcPct val="150000"/>
              </a:lnSpc>
              <a:buFont typeface="Arial" panose="020B0604020202020204" pitchFamily="34" charset="0"/>
              <a:buChar char="•"/>
            </a:pPr>
            <a:r>
              <a:rPr lang="en-GB" dirty="0"/>
              <a:t>Email: 96</a:t>
            </a:r>
            <a:r>
              <a:rPr lang="pl-PL" dirty="0"/>
              <a:t>,</a:t>
            </a:r>
            <a:r>
              <a:rPr lang="en-GB" dirty="0"/>
              <a:t>57</a:t>
            </a:r>
            <a:endParaRPr lang="pl-PL" dirty="0"/>
          </a:p>
          <a:p>
            <a:pPr lvl="1">
              <a:lnSpc>
                <a:spcPct val="150000"/>
              </a:lnSpc>
              <a:buFont typeface="Arial" panose="020B0604020202020204" pitchFamily="34" charset="0"/>
              <a:buChar char="•"/>
            </a:pPr>
            <a:r>
              <a:rPr lang="en-GB" dirty="0"/>
              <a:t>Email + Call: 170</a:t>
            </a:r>
            <a:r>
              <a:rPr lang="pl-PL" dirty="0"/>
              <a:t>,</a:t>
            </a:r>
            <a:r>
              <a:rPr lang="en-GB" dirty="0"/>
              <a:t>88</a:t>
            </a:r>
          </a:p>
        </p:txBody>
      </p:sp>
    </p:spTree>
    <p:extLst>
      <p:ext uri="{BB962C8B-B14F-4D97-AF65-F5344CB8AC3E}">
        <p14:creationId xmlns:p14="http://schemas.microsoft.com/office/powerpoint/2010/main" val="16474362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CA060-EC25-53BE-EE65-D54E94FF6023}"/>
              </a:ext>
            </a:extLst>
          </p:cNvPr>
          <p:cNvSpPr>
            <a:spLocks noGrp="1"/>
          </p:cNvSpPr>
          <p:nvPr>
            <p:ph type="title"/>
          </p:nvPr>
        </p:nvSpPr>
        <p:spPr/>
        <p:txBody>
          <a:bodyPr/>
          <a:lstStyle/>
          <a:p>
            <a:r>
              <a:rPr lang="en-GB" dirty="0"/>
              <a:t>Key Findings</a:t>
            </a:r>
          </a:p>
        </p:txBody>
      </p:sp>
      <p:sp>
        <p:nvSpPr>
          <p:cNvPr id="3" name="Content Placeholder 2">
            <a:extLst>
              <a:ext uri="{FF2B5EF4-FFF2-40B4-BE49-F238E27FC236}">
                <a16:creationId xmlns:a16="http://schemas.microsoft.com/office/drawing/2014/main" id="{A51FB465-C1DE-2EEB-8C36-B5DB772068D5}"/>
              </a:ext>
            </a:extLst>
          </p:cNvPr>
          <p:cNvSpPr>
            <a:spLocks noGrp="1"/>
          </p:cNvSpPr>
          <p:nvPr>
            <p:ph idx="1"/>
          </p:nvPr>
        </p:nvSpPr>
        <p:spPr>
          <a:xfrm>
            <a:off x="1104293" y="1708789"/>
            <a:ext cx="8946541" cy="4195481"/>
          </a:xfrm>
        </p:spPr>
        <p:txBody>
          <a:bodyPr>
            <a:normAutofit/>
          </a:bodyPr>
          <a:lstStyle/>
          <a:p>
            <a:pPr>
              <a:lnSpc>
                <a:spcPct val="150000"/>
              </a:lnSpc>
            </a:pPr>
            <a:r>
              <a:rPr lang="en-GB" dirty="0"/>
              <a:t>Most transactions generate low revenue, with opportunities to increase average value.</a:t>
            </a:r>
            <a:endParaRPr lang="pl-PL" dirty="0"/>
          </a:p>
          <a:p>
            <a:pPr>
              <a:lnSpc>
                <a:spcPct val="150000"/>
              </a:lnSpc>
            </a:pPr>
            <a:r>
              <a:rPr lang="en-GB" dirty="0"/>
              <a:t>'Email + Call' drives the highest revenue; 'Email' is cost-efficient; 'Call' suits targeted high-value clients.</a:t>
            </a:r>
            <a:endParaRPr lang="pl-PL" dirty="0"/>
          </a:p>
          <a:p>
            <a:pPr>
              <a:lnSpc>
                <a:spcPct val="150000"/>
              </a:lnSpc>
            </a:pPr>
            <a:r>
              <a:rPr lang="en-GB" dirty="0"/>
              <a:t>Average revenue per method shows 'Email + Call' is most effective.</a:t>
            </a:r>
            <a:endParaRPr lang="pl-PL" dirty="0"/>
          </a:p>
          <a:p>
            <a:pPr>
              <a:lnSpc>
                <a:spcPct val="150000"/>
              </a:lnSpc>
            </a:pPr>
            <a:r>
              <a:rPr lang="en-GB" dirty="0"/>
              <a:t>Higher units sold lead to greater revenue, highlighting bundling opportunities.</a:t>
            </a:r>
          </a:p>
        </p:txBody>
      </p:sp>
    </p:spTree>
    <p:extLst>
      <p:ext uri="{BB962C8B-B14F-4D97-AF65-F5344CB8AC3E}">
        <p14:creationId xmlns:p14="http://schemas.microsoft.com/office/powerpoint/2010/main" val="35943498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58D2E7-4C96-4B18-7BCB-7DA7276E375C}"/>
              </a:ext>
            </a:extLst>
          </p:cNvPr>
          <p:cNvSpPr>
            <a:spLocks noGrp="1"/>
          </p:cNvSpPr>
          <p:nvPr>
            <p:ph type="title"/>
          </p:nvPr>
        </p:nvSpPr>
        <p:spPr/>
        <p:txBody>
          <a:bodyPr/>
          <a:lstStyle/>
          <a:p>
            <a:r>
              <a:rPr lang="en-GB"/>
              <a:t>Recommendations to the Business</a:t>
            </a:r>
          </a:p>
        </p:txBody>
      </p:sp>
      <p:sp>
        <p:nvSpPr>
          <p:cNvPr id="3" name="Content Placeholder 2">
            <a:extLst>
              <a:ext uri="{FF2B5EF4-FFF2-40B4-BE49-F238E27FC236}">
                <a16:creationId xmlns:a16="http://schemas.microsoft.com/office/drawing/2014/main" id="{1AAD4700-9B74-6D93-D0C2-6398B611B8EC}"/>
              </a:ext>
            </a:extLst>
          </p:cNvPr>
          <p:cNvSpPr>
            <a:spLocks noGrp="1"/>
          </p:cNvSpPr>
          <p:nvPr>
            <p:ph idx="1"/>
          </p:nvPr>
        </p:nvSpPr>
        <p:spPr>
          <a:xfrm>
            <a:off x="1104293" y="1853248"/>
            <a:ext cx="8946541" cy="4195481"/>
          </a:xfrm>
        </p:spPr>
        <p:txBody>
          <a:bodyPr>
            <a:normAutofit lnSpcReduction="10000"/>
          </a:bodyPr>
          <a:lstStyle/>
          <a:p>
            <a:pPr>
              <a:lnSpc>
                <a:spcPct val="150000"/>
              </a:lnSpc>
            </a:pPr>
            <a:r>
              <a:rPr lang="en-GB" dirty="0"/>
              <a:t>Scale Up Email and Email + Call </a:t>
            </a:r>
            <a:r>
              <a:rPr lang="pl-PL" dirty="0"/>
              <a:t>m</a:t>
            </a:r>
            <a:r>
              <a:rPr lang="en-GB" dirty="0" err="1"/>
              <a:t>ethods</a:t>
            </a:r>
            <a:r>
              <a:rPr lang="en-GB" dirty="0"/>
              <a:t>:</a:t>
            </a:r>
            <a:endParaRPr lang="pl-PL" dirty="0"/>
          </a:p>
          <a:p>
            <a:pPr lvl="1">
              <a:lnSpc>
                <a:spcPct val="150000"/>
              </a:lnSpc>
              <a:buFont typeface="Arial" panose="020B0604020202020204" pitchFamily="34" charset="0"/>
              <a:buChar char="•"/>
            </a:pPr>
            <a:r>
              <a:rPr lang="en-GB" dirty="0"/>
              <a:t>Email for cost-effective customer engagement (e.g., newsletters, promotions).</a:t>
            </a:r>
            <a:endParaRPr lang="pl-PL" dirty="0"/>
          </a:p>
          <a:p>
            <a:pPr lvl="1">
              <a:lnSpc>
                <a:spcPct val="150000"/>
              </a:lnSpc>
              <a:buFont typeface="Arial" panose="020B0604020202020204" pitchFamily="34" charset="0"/>
              <a:buChar char="•"/>
            </a:pPr>
            <a:r>
              <a:rPr lang="en-GB" dirty="0"/>
              <a:t>Email + Call for high-value follow-ups and personalized communication.</a:t>
            </a:r>
            <a:endParaRPr lang="pl-PL" dirty="0"/>
          </a:p>
          <a:p>
            <a:pPr>
              <a:lnSpc>
                <a:spcPct val="150000"/>
              </a:lnSpc>
            </a:pPr>
            <a:r>
              <a:rPr lang="en-GB" dirty="0"/>
              <a:t>Focus Call-Only on High-Potential Customers:</a:t>
            </a:r>
            <a:endParaRPr lang="pl-PL" dirty="0"/>
          </a:p>
          <a:p>
            <a:pPr lvl="1">
              <a:lnSpc>
                <a:spcPct val="150000"/>
              </a:lnSpc>
              <a:buFont typeface="Arial" panose="020B0604020202020204" pitchFamily="34" charset="0"/>
              <a:buChar char="•"/>
            </a:pPr>
            <a:r>
              <a:rPr lang="en-GB" dirty="0"/>
              <a:t>Prioritize key accounts and potential high-value clients.</a:t>
            </a:r>
            <a:endParaRPr lang="pl-PL" dirty="0"/>
          </a:p>
          <a:p>
            <a:pPr lvl="1">
              <a:lnSpc>
                <a:spcPct val="150000"/>
              </a:lnSpc>
              <a:buFont typeface="Arial" panose="020B0604020202020204" pitchFamily="34" charset="0"/>
              <a:buChar char="•"/>
            </a:pPr>
            <a:r>
              <a:rPr lang="en-GB" dirty="0"/>
              <a:t>Develop criteria for customer selection based on purchase history.</a:t>
            </a:r>
            <a:endParaRPr lang="pl-PL" dirty="0"/>
          </a:p>
          <a:p>
            <a:pPr>
              <a:lnSpc>
                <a:spcPct val="150000"/>
              </a:lnSpc>
            </a:pPr>
            <a:r>
              <a:rPr lang="en-GB" dirty="0"/>
              <a:t>Impact: Maximizes revenue while optimizing resource allocation.</a:t>
            </a:r>
          </a:p>
        </p:txBody>
      </p:sp>
    </p:spTree>
    <p:extLst>
      <p:ext uri="{BB962C8B-B14F-4D97-AF65-F5344CB8AC3E}">
        <p14:creationId xmlns:p14="http://schemas.microsoft.com/office/powerpoint/2010/main" val="845580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BDF29-527B-BA97-A0D5-4E14C41744E1}"/>
              </a:ext>
            </a:extLst>
          </p:cNvPr>
          <p:cNvSpPr>
            <a:spLocks noGrp="1"/>
          </p:cNvSpPr>
          <p:nvPr>
            <p:ph type="title"/>
          </p:nvPr>
        </p:nvSpPr>
        <p:spPr/>
        <p:txBody>
          <a:bodyPr/>
          <a:lstStyle/>
          <a:p>
            <a:r>
              <a:rPr lang="en-GB" dirty="0"/>
              <a:t>Conclusion</a:t>
            </a:r>
            <a:r>
              <a:rPr lang="pl-PL" dirty="0"/>
              <a:t>s</a:t>
            </a:r>
            <a:endParaRPr lang="en-GB" dirty="0"/>
          </a:p>
        </p:txBody>
      </p:sp>
      <p:sp>
        <p:nvSpPr>
          <p:cNvPr id="3" name="Content Placeholder 2">
            <a:extLst>
              <a:ext uri="{FF2B5EF4-FFF2-40B4-BE49-F238E27FC236}">
                <a16:creationId xmlns:a16="http://schemas.microsoft.com/office/drawing/2014/main" id="{2A58D779-821F-68E2-676B-4ADE954FBD2B}"/>
              </a:ext>
            </a:extLst>
          </p:cNvPr>
          <p:cNvSpPr>
            <a:spLocks noGrp="1"/>
          </p:cNvSpPr>
          <p:nvPr>
            <p:ph idx="1"/>
          </p:nvPr>
        </p:nvSpPr>
        <p:spPr>
          <a:xfrm>
            <a:off x="1104293" y="1679292"/>
            <a:ext cx="8946541" cy="4195481"/>
          </a:xfrm>
        </p:spPr>
        <p:txBody>
          <a:bodyPr/>
          <a:lstStyle/>
          <a:p>
            <a:pPr>
              <a:lnSpc>
                <a:spcPct val="150000"/>
              </a:lnSpc>
            </a:pPr>
            <a:r>
              <a:rPr lang="en-GB" dirty="0"/>
              <a:t>The analysis highlights key opportunities to optimize sales strategies. 'Email + Call' stands out as the most effective method for high-revenue transactions, while 'Email' offers a cost-efficient solution for consistent, moderate revenue. The 'Call' method, though less frequent, shows potential when targeted toward high-priority or high-value customers. By aligning sales efforts with these findings, the business can enhance resource allocation, improve efficiency, and drive overall revenue growth.</a:t>
            </a:r>
          </a:p>
        </p:txBody>
      </p:sp>
    </p:spTree>
    <p:extLst>
      <p:ext uri="{BB962C8B-B14F-4D97-AF65-F5344CB8AC3E}">
        <p14:creationId xmlns:p14="http://schemas.microsoft.com/office/powerpoint/2010/main" val="242185425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0E5580"/>
      </a:dk2>
      <a:lt2>
        <a:srgbClr val="EBEBEB"/>
      </a:lt2>
      <a:accent1>
        <a:srgbClr val="ACD433"/>
      </a:accent1>
      <a:accent2>
        <a:srgbClr val="E6C133"/>
      </a:accent2>
      <a:accent3>
        <a:srgbClr val="EF7A24"/>
      </a:accent3>
      <a:accent4>
        <a:srgbClr val="5AA0F5"/>
      </a:accent4>
      <a:accent5>
        <a:srgbClr val="75CEEC"/>
      </a:accent5>
      <a:accent6>
        <a:srgbClr val="65D6A0"/>
      </a:accent6>
      <a:hlink>
        <a:srgbClr val="C4E46E"/>
      </a:hlink>
      <a:folHlink>
        <a:srgbClr val="BDE0F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2000"/>
                <a:hueMod val="96000"/>
                <a:satMod val="128000"/>
                <a:lumMod val="114000"/>
              </a:schemeClr>
            </a:gs>
            <a:gs pos="100000">
              <a:schemeClr val="phClr">
                <a:shade val="62000"/>
                <a:hueMod val="100000"/>
                <a:satMod val="134000"/>
                <a:lumMod val="56000"/>
              </a:schemeClr>
            </a:gs>
          </a:gsLst>
          <a:path path="circle">
            <a:fillToRect l="45000" t="65000" r="125000" b="100000"/>
          </a:path>
        </a:gradFill>
        <a:blipFill rotWithShape="1">
          <a:blip xmlns:r="http://schemas.openxmlformats.org/officeDocument/2006/relationships" r:embed="rId1">
            <a:duotone>
              <a:schemeClr val="phClr">
                <a:shade val="62000"/>
                <a:hueMod val="108000"/>
                <a:satMod val="164000"/>
                <a:lumMod val="69000"/>
              </a:schemeClr>
              <a:schemeClr val="phClr">
                <a:tint val="96000"/>
                <a:hueMod val="90000"/>
                <a:satMod val="130000"/>
                <a:lumMod val="134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BACC050B-8757-4460-95D8-E37B46A6B421}"/>
    </a:ext>
  </a:extLst>
</a:theme>
</file>

<file path=docProps/app.xml><?xml version="1.0" encoding="utf-8"?>
<Properties xmlns="http://schemas.openxmlformats.org/officeDocument/2006/extended-properties" xmlns:vt="http://schemas.openxmlformats.org/officeDocument/2006/docPropsVTypes">
  <Template>Ion</Template>
  <TotalTime>44</TotalTime>
  <Words>555</Words>
  <Application>Microsoft Office PowerPoint</Application>
  <PresentationFormat>Widescreen</PresentationFormat>
  <Paragraphs>43</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Century Gothic</vt:lpstr>
      <vt:lpstr>Wingdings 3</vt:lpstr>
      <vt:lpstr>Ion</vt:lpstr>
      <vt:lpstr>Data Analyst Certification Presentation</vt:lpstr>
      <vt:lpstr>Project Overview and Business Goals</vt:lpstr>
      <vt:lpstr>Summary of Work Undertaken</vt:lpstr>
      <vt:lpstr>Revenue Distribution</vt:lpstr>
      <vt:lpstr>Frequency of Sales Methods</vt:lpstr>
      <vt:lpstr>Revenue by Sales Method</vt:lpstr>
      <vt:lpstr>Relationship Between Products Sold and Revenue</vt:lpstr>
      <vt:lpstr>Key Metric: Revenue per Sales Method</vt:lpstr>
      <vt:lpstr>Key Findings</vt:lpstr>
      <vt:lpstr>Recommendations to the Business</vt:lpstr>
      <vt:lpstr>Conclusions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Norbert Dzikowski</dc:creator>
  <cp:lastModifiedBy>Norbert Dzikowski</cp:lastModifiedBy>
  <cp:revision>4</cp:revision>
  <dcterms:created xsi:type="dcterms:W3CDTF">2024-11-20T13:26:08Z</dcterms:created>
  <dcterms:modified xsi:type="dcterms:W3CDTF">2024-11-28T20:05:20Z</dcterms:modified>
</cp:coreProperties>
</file>